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97" r:id="rId3"/>
    <p:sldId id="499" r:id="rId4"/>
    <p:sldId id="500" r:id="rId5"/>
    <p:sldId id="501" r:id="rId6"/>
    <p:sldId id="502" r:id="rId7"/>
    <p:sldId id="503" r:id="rId8"/>
    <p:sldId id="504" r:id="rId9"/>
    <p:sldId id="505" r:id="rId10"/>
    <p:sldId id="506" r:id="rId11"/>
    <p:sldId id="507" r:id="rId12"/>
    <p:sldId id="269" r:id="rId13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93" autoAdjust="0"/>
    <p:restoredTop sz="94729"/>
  </p:normalViewPr>
  <p:slideViewPr>
    <p:cSldViewPr>
      <p:cViewPr varScale="1">
        <p:scale>
          <a:sx n="105" d="100"/>
          <a:sy n="105" d="100"/>
        </p:scale>
        <p:origin x="1048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First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45787"/>
              </p:ext>
            </p:extLst>
          </p:nvPr>
        </p:nvGraphicFramePr>
        <p:xfrm>
          <a:off x="1696133" y="3086001"/>
          <a:ext cx="6130828" cy="2211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5414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65414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4422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442297">
                <a:tc>
                  <a:txBody>
                    <a:bodyPr/>
                    <a:lstStyle/>
                    <a:p>
                      <a:r>
                        <a:rPr lang="en-US" dirty="0"/>
                        <a:t>2501730172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 Kumar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442297">
                <a:tc>
                  <a:txBody>
                    <a:bodyPr/>
                    <a:lstStyle/>
                    <a:p>
                      <a:r>
                        <a:rPr lang="en-US" dirty="0"/>
                        <a:t>2501730046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Bhavya Anand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442297">
                <a:tc>
                  <a:txBody>
                    <a:bodyPr/>
                    <a:lstStyle/>
                    <a:p>
                      <a:r>
                        <a:rPr lang="en-US" dirty="0"/>
                        <a:t>2501730051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Priyanshu Pandey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  <a:tr h="442297">
                <a:tc>
                  <a:txBody>
                    <a:bodyPr/>
                    <a:lstStyle/>
                    <a:p>
                      <a:r>
                        <a:rPr lang="en-US" dirty="0"/>
                        <a:t>2501730252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Pawan Kumar Singh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750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2299287" y="1212054"/>
            <a:ext cx="46592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Project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2E16F8-BF4C-6FF6-4105-C8692E47B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408964"/>
              </p:ext>
            </p:extLst>
          </p:nvPr>
        </p:nvGraphicFramePr>
        <p:xfrm>
          <a:off x="1716360" y="5304352"/>
          <a:ext cx="609600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37143885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9315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2501730056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Nishtha S. Sharma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334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F3FA99-DDE2-FC06-E4F7-BAC21DE44001}"/>
              </a:ext>
            </a:extLst>
          </p:cNvPr>
          <p:cNvSpPr txBox="1"/>
          <p:nvPr/>
        </p:nvSpPr>
        <p:spPr>
          <a:xfrm>
            <a:off x="179511" y="1293834"/>
            <a:ext cx="878497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Early Warning &amp; Recovery System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AI-driven intervention platform tackling student failure rates through proactive guidance, not reactive grading</a:t>
            </a: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Key Value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Acts as a "GPS for Success" with turn-by-turn recovery steps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Traditional Grading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Judging after the exam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Proactive Intervention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Guiding mid-semester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4A63F4-F5C2-667D-5591-AA8C63372F36}"/>
              </a:ext>
            </a:extLst>
          </p:cNvPr>
          <p:cNvSpPr txBox="1"/>
          <p:nvPr/>
        </p:nvSpPr>
        <p:spPr>
          <a:xfrm>
            <a:off x="72008" y="1196752"/>
            <a:ext cx="889248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</a:t>
            </a: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Early Detection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failing trends with &gt;85% accuracy using Random Forest algorithms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</a:t>
            </a: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Volatility Indexing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Quantify "Performance Delta" drop in marks between early assessments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 </a:t>
            </a: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Prescriptive Roadmap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Automate generation of specific study tasks tailored to degree (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B.Tech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MBA)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4. </a:t>
            </a: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Behavioral Simulation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Create "What-If" simulator showing impact of behavioral changes on results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A518D1-4461-06F7-573F-D02783E550F7}"/>
              </a:ext>
            </a:extLst>
          </p:cNvPr>
          <p:cNvSpPr txBox="1"/>
          <p:nvPr/>
        </p:nvSpPr>
        <p:spPr>
          <a:xfrm>
            <a:off x="125760" y="1023700"/>
            <a:ext cx="88924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</a:t>
            </a: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Real-time Risk Gauge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Instant visualization of student status (Red/Yellow/Green)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</a:t>
            </a: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Comeback Roadmap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3-step personalized recovery plan based on subject-specific weaknesses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 </a:t>
            </a: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Volatility Alert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Flags students on "downward spiral" with dropping grades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4. </a:t>
            </a: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Interactive Simulator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Sliders to model impact of attendance and study hours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5. </a:t>
            </a: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AI Explainability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Uses SHAP logic to explain risk factors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4D2B94-6B75-003A-8997-ED8AC4636200}"/>
              </a:ext>
            </a:extLst>
          </p:cNvPr>
          <p:cNvSpPr txBox="1"/>
          <p:nvPr/>
        </p:nvSpPr>
        <p:spPr>
          <a:xfrm>
            <a:off x="72008" y="1196752"/>
            <a:ext cx="88924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Faculty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Automated cohort filtering for remedial classes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Students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Self-diagnostic portal tracking "Success Velocity"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Parents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Data-backed insights into academic trends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Initial Scope</a:t>
            </a:r>
          </a:p>
          <a:p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B.Tech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and MBA departments</a:t>
            </a:r>
          </a:p>
          <a:p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Integration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Designed to integrate into existing University LMS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2F9A94-6A2C-EDDD-1D0F-B9BE8B81702A}"/>
              </a:ext>
            </a:extLst>
          </p:cNvPr>
          <p:cNvSpPr txBox="1"/>
          <p:nvPr/>
        </p:nvSpPr>
        <p:spPr>
          <a:xfrm>
            <a:off x="177133" y="1293834"/>
            <a:ext cx="84993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Ingestion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Student CSVs: Attendance, G1/G2 Marks, Mood/Sleep patterns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Logic Layer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Predictive AI (Random Forest Regressor) forecasts final scores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Prescriptive Engine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Expert system maps AI weaknesses to specific study resources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User Interface</a:t>
            </a:r>
          </a:p>
          <a:p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Streamlit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web dashboard with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Plotly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risk meters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Output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Downloadable "Recovery Roadmap"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7A919E-7DB1-E6B8-D950-8901A88C816D}"/>
              </a:ext>
            </a:extLst>
          </p:cNvPr>
          <p:cNvSpPr txBox="1"/>
          <p:nvPr/>
        </p:nvSpPr>
        <p:spPr>
          <a:xfrm>
            <a:off x="179512" y="1397636"/>
            <a:ext cx="878497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Sources</a:t>
            </a:r>
          </a:p>
          <a:p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Synthetic student records modeled on UCI Educational Data Mining dataset</a:t>
            </a:r>
          </a:p>
          <a:p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Software Stack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 3.11+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Scikit-Learn, Pandas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Streamlit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Plotly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Hardware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Local development → Cloud deployment (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Streamlit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Cloud)</a:t>
            </a:r>
          </a:p>
          <a:p>
            <a:pPr algn="l"/>
            <a:endParaRPr lang="en-US" b="0" i="0" dirty="0">
              <a:solidFill>
                <a:srgbClr val="37415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CD912C-84E0-01B7-2A8E-8826BD4E18EB}"/>
              </a:ext>
            </a:extLst>
          </p:cNvPr>
          <p:cNvSpPr txBox="1"/>
          <p:nvPr/>
        </p:nvSpPr>
        <p:spPr>
          <a:xfrm>
            <a:off x="179512" y="1318873"/>
            <a:ext cx="878497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Hybrid Predictive-Prescriptive Analytics</a:t>
            </a:r>
          </a:p>
          <a:p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Random Forest Algorithm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Handles non-linear data patterns</a:t>
            </a:r>
          </a:p>
          <a:p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Volatility Calculation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 = G2 - G1 (Negative triggers Yellow alert)</a:t>
            </a:r>
          </a:p>
          <a:p>
            <a:endParaRPr lang="en-US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Degree-Specific Roadmaps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B.Tech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→ Coding Practice; MBA → Case Studies</a:t>
            </a:r>
          </a:p>
          <a:p>
            <a:pPr algn="l"/>
            <a:endParaRPr lang="en-US" b="0" i="0" dirty="0">
              <a:solidFill>
                <a:srgbClr val="37415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FC0184-6A94-A649-E570-DA483E369BA0}"/>
              </a:ext>
            </a:extLst>
          </p:cNvPr>
          <p:cNvSpPr txBox="1"/>
          <p:nvPr/>
        </p:nvSpPr>
        <p:spPr>
          <a:xfrm>
            <a:off x="179512" y="1293835"/>
            <a:ext cx="28803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10-15%</a:t>
            </a: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 Rate Increase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Projected semester pass rate improvement through early intervention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7B3C3D-E3F4-8F3F-74EE-2FE3F984FD7E}"/>
              </a:ext>
            </a:extLst>
          </p:cNvPr>
          <p:cNvSpPr txBox="1"/>
          <p:nvPr/>
        </p:nvSpPr>
        <p:spPr>
          <a:xfrm>
            <a:off x="5148064" y="1484784"/>
            <a:ext cx="36724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100%</a:t>
            </a: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Student Coverage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Optimizing Recall ensures no "At-Risk" student left behind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DC71EA-25AF-0595-2953-60C4E64B15DC}"/>
              </a:ext>
            </a:extLst>
          </p:cNvPr>
          <p:cNvSpPr txBox="1"/>
          <p:nvPr/>
        </p:nvSpPr>
        <p:spPr>
          <a:xfrm>
            <a:off x="179512" y="3602158"/>
            <a:ext cx="82809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Student Impact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Reduced academic burnout with clear "Path to Passing"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Institutional Impact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Fully functional AI Diagnostic Portal for departmental pilot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FC42AB-18CA-0963-DBE1-ABF7FDD5C215}"/>
              </a:ext>
            </a:extLst>
          </p:cNvPr>
          <p:cNvSpPr txBox="1"/>
          <p:nvPr/>
        </p:nvSpPr>
        <p:spPr>
          <a:xfrm>
            <a:off x="179511" y="1274263"/>
            <a:ext cx="896448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Week 1</a:t>
            </a:r>
          </a:p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generation and literature review of EDM research</a:t>
            </a: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Week 2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Development of ML Model Training &amp; Volatility logic</a:t>
            </a: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Week 3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Building Prescriptive Engine with degree-specific roadmaps</a:t>
            </a: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Week 4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UI/UX Development with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Streamlit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Dashboard</a:t>
            </a:r>
          </a:p>
          <a:p>
            <a:pPr algn="ctr"/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Week 5</a:t>
            </a:r>
          </a:p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Final Integration, Bug fixing, and Documentation</a:t>
            </a:r>
          </a:p>
          <a:p>
            <a:pPr algn="ctr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6079</TotalTime>
  <Words>577</Words>
  <Application>Microsoft Macintosh PowerPoint</Application>
  <PresentationFormat>On-screen Show (4:3)</PresentationFormat>
  <Paragraphs>178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Bhavya Anand 2501730046</cp:lastModifiedBy>
  <cp:revision>311</cp:revision>
  <cp:lastPrinted>2026-02-02T04:36:51Z</cp:lastPrinted>
  <dcterms:created xsi:type="dcterms:W3CDTF">2020-01-16T09:05:56Z</dcterms:created>
  <dcterms:modified xsi:type="dcterms:W3CDTF">2026-02-02T05:01:41Z</dcterms:modified>
</cp:coreProperties>
</file>